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customXml" Target="../customXml/item3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customXml" Target="../customXml/item2.xml"/><Relationship Id="rId2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1.xml"/><Relationship Id="rId5" Type="http://schemas.openxmlformats.org/officeDocument/2006/relationships/theme" Target="theme/theme1.xml"/><Relationship Id="rId10" Type="http://schemas.openxmlformats.org/officeDocument/2006/relationships/slide" Target="slides/slide4.xml"/><Relationship Id="rId4" Type="http://schemas.openxmlformats.org/officeDocument/2006/relationships/viewProps" Target="viewProps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38912"/>
            <a:ext cx="73152" cy="457200"/>
          </a:xfrm>
          <a:prstGeom prst="rect">
            <a:avLst/>
          </a:prstGeom>
          <a:solidFill>
            <a:srgbClr val="3E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ECD82"/>
                </a:solidFill>
                <a:latin typeface="Aptos"/>
              </a:rPr>
              <a:t>01 /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5F8F7"/>
                </a:solidFill>
                <a:latin typeface="Aptos"/>
              </a:rPr>
              <a:t>Mumbai’s smallest ticket is part of a bigger waste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89888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5B8BE"/>
                </a:solidFill>
                <a:latin typeface="Aptos"/>
              </a:rPr>
              <a:t>Every journey can create another thermal-paper ticket — and the material needs a better end-of-life pathway.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50292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A5B8BE"/>
                </a:solidFill>
                <a:latin typeface="Aptos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5943600" cy="3520440"/>
          </a:xfrm>
          <a:prstGeom prst="roundRect">
            <a:avLst/>
          </a:prstGeom>
          <a:solidFill>
            <a:srgbClr val="12222D"/>
          </a:solidFill>
          <a:ln>
            <a:solidFill>
              <a:srgbClr val="30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95728"/>
            <a:ext cx="5212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06969"/>
                </a:solidFill>
                <a:latin typeface="Aptos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816352"/>
            <a:ext cx="50749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5F8F7"/>
                </a:solidFill>
                <a:latin typeface="Aptos"/>
              </a:rPr>
              <a:t>Thermal tickets are designed to be temporary — but the waste remains.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977639"/>
            <a:ext cx="5074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5B8BE"/>
                </a:solidFill>
                <a:latin typeface="Aptos"/>
              </a:rPr>
              <a:t>They are not ordinary paper. Their heat-sensitive coating makes conventional paper recycling a poor fit, while individual tickets are too small to be conveniently recovered.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2057400"/>
            <a:ext cx="4251960" cy="3520440"/>
          </a:xfrm>
          <a:prstGeom prst="roundRect">
            <a:avLst/>
          </a:prstGeom>
          <a:solidFill>
            <a:srgbClr val="182D39"/>
          </a:solidFill>
          <a:ln>
            <a:solidFill>
              <a:srgbClr val="30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55279" y="2514600"/>
            <a:ext cx="2839212" cy="1629918"/>
          </a:xfrm>
          <a:prstGeom prst="round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2724912"/>
            <a:ext cx="2313432" cy="3154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64" b="1">
                <a:solidFill>
                  <a:srgbClr val="09141D"/>
                </a:solidFill>
                <a:latin typeface="Aptos"/>
              </a:rPr>
              <a:t>MUMBAI METRO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3166567"/>
            <a:ext cx="2313432" cy="2944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35" b="1">
                <a:solidFill>
                  <a:srgbClr val="3ECD82"/>
                </a:solidFill>
                <a:latin typeface="Aptos"/>
              </a:rPr>
              <a:t>THERMAL TICKET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618738"/>
            <a:ext cx="2313432" cy="2313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19" b="0">
                <a:solidFill>
                  <a:srgbClr val="6E7D82"/>
                </a:solidFill>
                <a:latin typeface="Aptos"/>
              </a:rPr>
              <a:t>●  ●  ●  ●  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21290" y="2724912"/>
            <a:ext cx="126187" cy="84124"/>
          </a:xfrm>
          <a:prstGeom prst="rect">
            <a:avLst/>
          </a:prstGeom>
          <a:solidFill>
            <a:srgbClr val="F6B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21290" y="2956255"/>
            <a:ext cx="126187" cy="84124"/>
          </a:xfrm>
          <a:prstGeom prst="rect">
            <a:avLst/>
          </a:prstGeom>
          <a:solidFill>
            <a:srgbClr val="F6B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21290" y="3187598"/>
            <a:ext cx="126187" cy="84124"/>
          </a:xfrm>
          <a:prstGeom prst="rect">
            <a:avLst/>
          </a:prstGeom>
          <a:solidFill>
            <a:srgbClr val="F6B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4251960"/>
            <a:ext cx="3383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A5B8BE"/>
                </a:solidFill>
                <a:latin typeface="Aptos"/>
              </a:rPr>
              <a:t>ONE TICKET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617720"/>
            <a:ext cx="3383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6BF49"/>
                </a:solidFill>
                <a:latin typeface="Aptos"/>
              </a:rPr>
              <a:t>→  ONE MORE WASTE ITEM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83EFB4"/>
                </a:solidFill>
                <a:latin typeface="Aptos"/>
              </a:rPr>
              <a:t>DESIGN QUESTION  /  How can we reduce, replace or recover the material instead of simply throwing it away?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38912"/>
            <a:ext cx="73152" cy="457200"/>
          </a:xfrm>
          <a:prstGeom prst="rect">
            <a:avLst/>
          </a:prstGeom>
          <a:solidFill>
            <a:srgbClr val="3E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ECD82"/>
                </a:solidFill>
                <a:latin typeface="Aptos"/>
              </a:rPr>
              <a:t>02 /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5F8F7"/>
                </a:solidFill>
                <a:latin typeface="Aptos"/>
              </a:rPr>
              <a:t>Three routes. One circular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89888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5B8BE"/>
                </a:solidFill>
                <a:latin typeface="Aptos"/>
              </a:rPr>
              <a:t>The project should not promise recycling before the material is tested.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50292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A5B8BE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3401568" cy="3520440"/>
          </a:xfrm>
          <a:prstGeom prst="roundRect">
            <a:avLst/>
          </a:prstGeom>
          <a:solidFill>
            <a:srgbClr val="12222D"/>
          </a:solidFill>
          <a:ln>
            <a:solidFill>
              <a:srgbClr val="30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78992" y="2331720"/>
            <a:ext cx="475488" cy="475488"/>
          </a:xfrm>
          <a:prstGeom prst="roundRect">
            <a:avLst/>
          </a:prstGeom>
          <a:solidFill>
            <a:srgbClr val="3E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395728"/>
            <a:ext cx="4754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9141D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06324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5F8F7"/>
                </a:solidFill>
                <a:latin typeface="Aptos"/>
              </a:rPr>
              <a:t>REDUCE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611880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3ECD82"/>
                </a:solidFill>
                <a:latin typeface="Aptos"/>
              </a:rPr>
              <a:t>Make the paper ticket optional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" y="4407408"/>
            <a:ext cx="2834640" cy="19050"/>
          </a:xfrm>
          <a:prstGeom prst="rect">
            <a:avLst/>
          </a:prstGeom>
          <a:solidFill>
            <a:srgbClr val="30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645152"/>
            <a:ext cx="2788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5B8BE"/>
                </a:solidFill>
                <a:latin typeface="Aptos"/>
              </a:rPr>
              <a:t>Digital tickets • QR entry • smart cards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3712" y="2057400"/>
            <a:ext cx="3401568" cy="3520440"/>
          </a:xfrm>
          <a:prstGeom prst="roundRect">
            <a:avLst/>
          </a:prstGeom>
          <a:solidFill>
            <a:srgbClr val="12222D"/>
          </a:solidFill>
          <a:ln>
            <a:solidFill>
              <a:srgbClr val="30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09744" y="2331720"/>
            <a:ext cx="475488" cy="475488"/>
          </a:xfrm>
          <a:prstGeom prst="roundRect">
            <a:avLst/>
          </a:prstGeom>
          <a:solidFill>
            <a:srgbClr val="F6B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9744" y="2395728"/>
            <a:ext cx="4754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9141D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4" y="306324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5F8F7"/>
                </a:solidFill>
                <a:latin typeface="Aptos"/>
              </a:rPr>
              <a:t>REPLACE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3611880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6BF49"/>
                </a:solidFill>
                <a:latin typeface="Aptos"/>
              </a:rPr>
              <a:t>Use a better ticket material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9744" y="4407408"/>
            <a:ext cx="2834639" cy="19050"/>
          </a:xfrm>
          <a:prstGeom prst="rect">
            <a:avLst/>
          </a:prstGeom>
          <a:solidFill>
            <a:srgbClr val="30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9744" y="4645152"/>
            <a:ext cx="2788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5B8BE"/>
                </a:solidFill>
                <a:latin typeface="Aptos"/>
              </a:rPr>
              <a:t>Pilot phenol-free / more recyclable thermal stock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84464" y="2057400"/>
            <a:ext cx="3401568" cy="3520440"/>
          </a:xfrm>
          <a:prstGeom prst="roundRect">
            <a:avLst/>
          </a:prstGeom>
          <a:solidFill>
            <a:srgbClr val="12222D"/>
          </a:solidFill>
          <a:ln>
            <a:solidFill>
              <a:srgbClr val="30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40496" y="2331720"/>
            <a:ext cx="475488" cy="475488"/>
          </a:xfrm>
          <a:prstGeom prst="roundRect">
            <a:avLst/>
          </a:prstGeom>
          <a:solidFill>
            <a:srgbClr val="83E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0496" y="2395728"/>
            <a:ext cx="4754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9141D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306324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F5F8F7"/>
                </a:solidFill>
                <a:latin typeface="Aptos"/>
              </a:rPr>
              <a:t>RECOVER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0496" y="3611880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3EFB4"/>
                </a:solidFill>
                <a:latin typeface="Aptos"/>
              </a:rPr>
              <a:t>Create a dedicated material stream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40496" y="4407408"/>
            <a:ext cx="2834640" cy="19050"/>
          </a:xfrm>
          <a:prstGeom prst="rect">
            <a:avLst/>
          </a:prstGeom>
          <a:solidFill>
            <a:srgbClr val="304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0496" y="4645152"/>
            <a:ext cx="2788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5B8BE"/>
                </a:solidFill>
                <a:latin typeface="Aptos"/>
              </a:rPr>
              <a:t>Collect → test → process → measure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989320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A5B8BE"/>
                </a:solidFill>
                <a:latin typeface="Aptos"/>
              </a:rPr>
              <a:t>CORE PRINCIPLE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5943600"/>
            <a:ext cx="9144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5F8F7"/>
                </a:solidFill>
                <a:latin typeface="Aptos"/>
              </a:rPr>
              <a:t>REDUCE  →  REPLACE  →  RECOVER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38912"/>
            <a:ext cx="73152" cy="457200"/>
          </a:xfrm>
          <a:prstGeom prst="rect">
            <a:avLst/>
          </a:prstGeom>
          <a:solidFill>
            <a:srgbClr val="3E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ECD82"/>
                </a:solidFill>
                <a:latin typeface="Aptos"/>
              </a:rPr>
              <a:t>03 /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5F8F7"/>
                </a:solidFill>
                <a:latin typeface="Aptos"/>
              </a:rPr>
              <a:t>Prove the material pathway before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89888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5B8BE"/>
                </a:solidFill>
                <a:latin typeface="Aptos"/>
              </a:rPr>
              <a:t>A low-cost pilot can generate the evidence needed for a real processing partnership.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50292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A5B8BE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1938528" cy="2057400"/>
          </a:xfrm>
          <a:prstGeom prst="roundRect">
            <a:avLst/>
          </a:prstGeom>
          <a:solidFill>
            <a:srgbClr val="12222D"/>
          </a:solidFill>
          <a:ln>
            <a:solidFill>
              <a:srgbClr val="30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ECD82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52928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8F7"/>
                </a:solidFill>
                <a:latin typeface="Aptos"/>
              </a:rPr>
              <a:t>COLLECT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56432"/>
            <a:ext cx="15544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5B8BE"/>
                </a:solidFill>
                <a:latin typeface="Aptos"/>
              </a:rPr>
              <a:t>Dedicated ticket bins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0904" y="29718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ECD82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53512" y="2148840"/>
            <a:ext cx="1938528" cy="2057400"/>
          </a:xfrm>
          <a:prstGeom prst="roundRect">
            <a:avLst/>
          </a:prstGeom>
          <a:solidFill>
            <a:srgbClr val="12222D"/>
          </a:solidFill>
          <a:ln>
            <a:solidFill>
              <a:srgbClr val="30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36392" y="2359152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ECD82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2852928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8F7"/>
                </a:solidFill>
                <a:latin typeface="Aptos"/>
              </a:rPr>
              <a:t>CHARACTERISE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3456432"/>
            <a:ext cx="15544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5B8BE"/>
                </a:solidFill>
                <a:latin typeface="Aptos"/>
              </a:rPr>
              <a:t>Material + coating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28616" y="29718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ECD82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21224" y="2148840"/>
            <a:ext cx="1938528" cy="2057400"/>
          </a:xfrm>
          <a:prstGeom prst="roundRect">
            <a:avLst/>
          </a:prstGeom>
          <a:solidFill>
            <a:srgbClr val="12222D"/>
          </a:solidFill>
          <a:ln>
            <a:solidFill>
              <a:srgbClr val="30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4104" y="2359152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ECD82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4104" y="2852928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8F7"/>
                </a:solidFill>
                <a:latin typeface="Aptos"/>
              </a:rPr>
              <a:t>TRIAL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4104" y="3456432"/>
            <a:ext cx="15544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5B8BE"/>
                </a:solidFill>
                <a:latin typeface="Aptos"/>
              </a:rPr>
              <a:t>Repulp / coating-removal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6328" y="29718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ECD82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88936" y="2148840"/>
            <a:ext cx="1938528" cy="2057400"/>
          </a:xfrm>
          <a:prstGeom prst="roundRect">
            <a:avLst/>
          </a:prstGeom>
          <a:solidFill>
            <a:srgbClr val="12222D"/>
          </a:solidFill>
          <a:ln>
            <a:solidFill>
              <a:srgbClr val="30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71815" y="2359152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ECD82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71815" y="2852928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8F7"/>
                </a:solidFill>
                <a:latin typeface="Aptos"/>
              </a:rPr>
              <a:t>MEASURE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71815" y="3456432"/>
            <a:ext cx="15544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5B8BE"/>
                </a:solidFill>
                <a:latin typeface="Aptos"/>
              </a:rPr>
              <a:t>Recovery • quality •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297180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ECD82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56648" y="2148840"/>
            <a:ext cx="1938528" cy="2057400"/>
          </a:xfrm>
          <a:prstGeom prst="roundRect">
            <a:avLst/>
          </a:prstGeom>
          <a:solidFill>
            <a:srgbClr val="12222D"/>
          </a:solidFill>
          <a:ln>
            <a:solidFill>
              <a:srgbClr val="30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39528" y="2359152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ECD82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9528" y="2852928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8F7"/>
                </a:solidFill>
                <a:latin typeface="Aptos"/>
              </a:rPr>
              <a:t>DECIDE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9528" y="3456432"/>
            <a:ext cx="15544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5B8BE"/>
                </a:solidFill>
                <a:latin typeface="Aptos"/>
              </a:rPr>
              <a:t>Best end-of-life route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617720"/>
            <a:ext cx="10789920" cy="1143000"/>
          </a:xfrm>
          <a:prstGeom prst="roundRect">
            <a:avLst/>
          </a:prstGeom>
          <a:solidFill>
            <a:srgbClr val="182D39"/>
          </a:solidFill>
          <a:ln>
            <a:solidFill>
              <a:srgbClr val="30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782312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6BF49"/>
                </a:solidFill>
                <a:latin typeface="Aptos"/>
              </a:rPr>
              <a:t>FUNDING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736592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7"/>
                </a:solidFill>
                <a:latin typeface="Aptos"/>
              </a:rPr>
              <a:t>₹25K–₹50K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7639" y="4782312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5B8BE"/>
                </a:solidFill>
                <a:latin typeface="Aptos"/>
              </a:rPr>
              <a:t>prototype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4736592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7"/>
                </a:solidFill>
                <a:latin typeface="Aptos"/>
              </a:rPr>
              <a:t>₹1–3 LAKH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782312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5B8BE"/>
                </a:solidFill>
                <a:latin typeface="Aptos"/>
              </a:rPr>
              <a:t>pilot + testing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4736592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8F7"/>
                </a:solidFill>
                <a:latin typeface="Aptos"/>
              </a:rPr>
              <a:t>₹5–15 LAKH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61320" y="4782312"/>
            <a:ext cx="685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A5B8BE"/>
                </a:solidFill>
                <a:latin typeface="Aptos"/>
              </a:rPr>
              <a:t>scale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6035040"/>
            <a:ext cx="10607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83EFB4"/>
                </a:solidFill>
                <a:latin typeface="Aptos"/>
              </a:rPr>
              <a:t>Key output: a verified answer to “What should happen to 1 kg of used thermal tickets?”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38912"/>
            <a:ext cx="73152" cy="457200"/>
          </a:xfrm>
          <a:prstGeom prst="rect">
            <a:avLst/>
          </a:prstGeom>
          <a:solidFill>
            <a:srgbClr val="3EC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ECD82"/>
                </a:solidFill>
                <a:latin typeface="Aptos"/>
              </a:rPr>
              <a:t>04 /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04672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5F8F7"/>
                </a:solidFill>
                <a:latin typeface="Aptos"/>
              </a:rPr>
              <a:t>Turn a waste problem into a ticketing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89888"/>
            <a:ext cx="10241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5B8BE"/>
                </a:solidFill>
                <a:latin typeface="Aptos"/>
              </a:rPr>
              <a:t>The long-term opportunity is bigger than recycling: redesign the entire ticket lifecycle.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50292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A5B8BE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3401568" cy="2560320"/>
          </a:xfrm>
          <a:prstGeom prst="roundRect">
            <a:avLst/>
          </a:prstGeom>
          <a:solidFill>
            <a:srgbClr val="12222D"/>
          </a:solidFill>
          <a:ln>
            <a:solidFill>
              <a:srgbClr val="30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9572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ECD82"/>
                </a:solidFill>
                <a:latin typeface="Aptos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88036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8F7"/>
                </a:solidFill>
                <a:latin typeface="Aptos"/>
              </a:rPr>
              <a:t>Mumbai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566160"/>
            <a:ext cx="2743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5B8BE"/>
                </a:solidFill>
                <a:latin typeface="Aptos"/>
              </a:rPr>
              <a:t>3–5 locations
Baseline waste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2971800"/>
            <a:ext cx="274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ECD82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53712" y="2148840"/>
            <a:ext cx="3401568" cy="2560320"/>
          </a:xfrm>
          <a:prstGeom prst="roundRect">
            <a:avLst/>
          </a:prstGeom>
          <a:solidFill>
            <a:srgbClr val="12222D"/>
          </a:solidFill>
          <a:ln>
            <a:solidFill>
              <a:srgbClr val="30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9744" y="239572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6BF49"/>
                </a:solidFill>
                <a:latin typeface="Aptos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9744" y="288036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8F7"/>
                </a:solidFill>
                <a:latin typeface="Aptos"/>
              </a:rPr>
              <a:t>Material innovation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9744" y="3566160"/>
            <a:ext cx="2743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5B8BE"/>
                </a:solidFill>
                <a:latin typeface="Aptos"/>
              </a:rPr>
              <a:t>Better stock
Paperless alternatives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971800"/>
            <a:ext cx="274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6BF49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4464" y="2148840"/>
            <a:ext cx="3401568" cy="2560320"/>
          </a:xfrm>
          <a:prstGeom prst="roundRect">
            <a:avLst/>
          </a:prstGeom>
          <a:solidFill>
            <a:srgbClr val="12222D"/>
          </a:solidFill>
          <a:ln>
            <a:solidFill>
              <a:srgbClr val="30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0496" y="239572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83EFB4"/>
                </a:solidFill>
                <a:latin typeface="Aptos"/>
              </a:rPr>
              <a:t>LATER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288036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F8F7"/>
                </a:solidFill>
                <a:latin typeface="Aptos"/>
              </a:rPr>
              <a:t>Circular 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96" y="3566160"/>
            <a:ext cx="27432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5B8BE"/>
                </a:solidFill>
                <a:latin typeface="Aptos"/>
              </a:rPr>
              <a:t>Metro + bus + receipts
Verified 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66360"/>
            <a:ext cx="10424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A5B8BE"/>
                </a:solidFill>
                <a:latin typeface="Aptos"/>
              </a:rPr>
              <a:t>SUCCESS 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532120"/>
            <a:ext cx="2331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8F7"/>
                </a:solidFill>
                <a:latin typeface="Aptos"/>
              </a:rPr>
              <a:t>PAPER AVOIDED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833872"/>
            <a:ext cx="2331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5B8BE"/>
                </a:solidFill>
                <a:latin typeface="Aptos"/>
              </a:rPr>
              <a:t>tickets/year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5532120"/>
            <a:ext cx="2331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8F7"/>
                </a:solidFill>
                <a:latin typeface="Aptos"/>
              </a:rPr>
              <a:t>RECOVERY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5833872"/>
            <a:ext cx="2331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5B8BE"/>
                </a:solidFill>
                <a:latin typeface="Aptos"/>
              </a:rPr>
              <a:t>% by mass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532120"/>
            <a:ext cx="2331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8F7"/>
                </a:solidFill>
                <a:latin typeface="Aptos"/>
              </a:rPr>
              <a:t>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833872"/>
            <a:ext cx="2331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5B8BE"/>
                </a:solidFill>
                <a:latin typeface="Aptos"/>
              </a:rPr>
              <a:t>₹ / kg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5532120"/>
            <a:ext cx="2331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8F7"/>
                </a:solidFill>
                <a:latin typeface="Aptos"/>
              </a:rPr>
              <a:t>RESIDUAL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5833872"/>
            <a:ext cx="2331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A5B8BE"/>
                </a:solidFill>
                <a:latin typeface="Aptos"/>
              </a:rPr>
              <a:t>% waste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400800"/>
            <a:ext cx="10424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83EFB4"/>
                </a:solidFill>
                <a:latin typeface="Aptos"/>
              </a:rPr>
              <a:t>VISION  /  Make the ticket itself part of the circular-economy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E45BCADE012848BADD84F0F5519C36" ma:contentTypeVersion="13" ma:contentTypeDescription="Create a new document." ma:contentTypeScope="" ma:versionID="749d6923f222eb45ac0dc6063575a178">
  <xsd:schema xmlns:xsd="http://www.w3.org/2001/XMLSchema" xmlns:xs="http://www.w3.org/2001/XMLSchema" xmlns:p="http://schemas.microsoft.com/office/2006/metadata/properties" xmlns:ns2="c49d017b-ac22-4c0b-a7a4-c8b9eca6cd70" xmlns:ns3="e0d206d7-ee7c-42da-b133-6e7342787b39" targetNamespace="http://schemas.microsoft.com/office/2006/metadata/properties" ma:root="true" ma:fieldsID="e99e7a50f06ef0e0bf1d9a36c1212498" ns2:_="" ns3:_="">
    <xsd:import namespace="c49d017b-ac22-4c0b-a7a4-c8b9eca6cd70"/>
    <xsd:import namespace="e0d206d7-ee7c-42da-b133-6e7342787b3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9d017b-ac22-4c0b-a7a4-c8b9eca6cd7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d206d7-ee7c-42da-b133-6e7342787b3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35d6c0a8-0dd6-40f9-b8c8-aca075772b73}" ma:internalName="TaxCatchAll" ma:showField="CatchAllData" ma:web="e0d206d7-ee7c-42da-b133-6e7342787b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49d017b-ac22-4c0b-a7a4-c8b9eca6cd70">
      <Terms xmlns="http://schemas.microsoft.com/office/infopath/2007/PartnerControls"/>
    </lcf76f155ced4ddcb4097134ff3c332f>
    <TaxCatchAll xmlns="e0d206d7-ee7c-42da-b133-6e7342787b39" xsi:nil="true"/>
    <ReferenceId xmlns="c49d017b-ac22-4c0b-a7a4-c8b9eca6cd70" xsi:nil="true"/>
  </documentManagement>
</p:properties>
</file>

<file path=customXml/itemProps1.xml><?xml version="1.0" encoding="utf-8"?>
<ds:datastoreItem xmlns:ds="http://schemas.openxmlformats.org/officeDocument/2006/customXml" ds:itemID="{94CE66B2-BAF6-48F2-906E-C5A5E8F8D076}"/>
</file>

<file path=customXml/itemProps2.xml><?xml version="1.0" encoding="utf-8"?>
<ds:datastoreItem xmlns:ds="http://schemas.openxmlformats.org/officeDocument/2006/customXml" ds:itemID="{71BFEA9E-C447-405E-B6E0-83B93215A091}"/>
</file>

<file path=customXml/itemProps3.xml><?xml version="1.0" encoding="utf-8"?>
<ds:datastoreItem xmlns:ds="http://schemas.openxmlformats.org/officeDocument/2006/customXml" ds:itemID="{F5DAC357-588A-44F4-8095-9FE26669A87E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0x01010029E45BCADE012848BADD84F0F5519C36</vt:lpwstr>
  </property>
</Properties>
</file>